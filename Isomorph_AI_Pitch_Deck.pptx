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Inter"/>
      <p:bold r:id="rId9"/>
    </p:embeddedFont>
    <p:embeddedFont>
      <p:font typeface="JetBrains Mono"/>
      <p:bold r:id="rId10"/>
    </p:embeddedFont>
    <p:embeddedFont>
      <p:font typeface="Space Grotesk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8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524351"/>
            <a:ext cx="10972800" cy="800100"/>
          </a:xfrm>
          <a:prstGeom prst="roundRect">
            <a:avLst>
              <a:gd name="adj" fmla="val 952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314926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524351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524351"/>
            <a:ext cx="38100" cy="8001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72875" y="5524351"/>
            <a:ext cx="9525" cy="800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705475" y="614362"/>
            <a:ext cx="1962150" cy="29527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62875" y="614362"/>
            <a:ext cx="1943100" cy="29527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01225" y="614362"/>
            <a:ext cx="1781175" cy="295275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791051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33400"/>
            <a:ext cx="6858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1869727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891B2"/>
                </a:solidFill>
                <a:latin typeface="Inter"/>
              </a:rPr>
              <a:t>NEXT-GEN CODE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174527"/>
            <a:ext cx="9901237" cy="1708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0F172A"/>
                </a:solidFill>
                <a:latin typeface="Space Grotesk"/>
              </a:rPr>
              <a:t>Structural Code Forensics &amp; Obfuscation-Resistant Similarity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073723"/>
            <a:ext cx="8286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Mathematical graph isomorphism detecting stolen, cloned, or obfuscated source code directly on edge hardware.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7800" y="614362"/>
            <a:ext cx="1750218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891B2"/>
                </a:solidFill>
                <a:latin typeface="Space Grotesk"/>
              </a:rPr>
              <a:t>ISOMORPH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8825" y="671512"/>
            <a:ext cx="17907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Inter"/>
              </a:rPr>
              <a:t>Windows on Snapdragon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6225" y="671512"/>
            <a:ext cx="17716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47857"/>
                </a:solidFill>
                <a:latin typeface="Inter"/>
              </a:rPr>
              <a:t>Qualcomm Hexagon NPU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34575" y="671512"/>
            <a:ext cx="16097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B21A8"/>
                </a:solidFill>
                <a:latin typeface="Inter"/>
              </a:rPr>
              <a:t>Zero-Trust Air-Gapped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724376"/>
            <a:ext cx="1069181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Inter"/>
              </a:rPr>
              <a:t>CORE 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924401"/>
            <a:ext cx="10691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Inter"/>
              </a:rPr>
              <a:t>Compare code by structural topology, not surface text—engineered for Snapdragon NPU edge security.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F47237E-58DA-9510-38EF-2CEAFD785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50" y="537837"/>
            <a:ext cx="680472" cy="4527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581650"/>
            <a:ext cx="10972800" cy="819150"/>
          </a:xfrm>
          <a:prstGeom prst="roundRect">
            <a:avLst>
              <a:gd name="adj" fmla="val 930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912846" y="5772150"/>
            <a:ext cx="1402853" cy="438150"/>
          </a:xfrm>
          <a:prstGeom prst="roundRect">
            <a:avLst>
              <a:gd name="adj" fmla="val 13043"/>
            </a:avLst>
          </a:prstGeom>
          <a:solidFill>
            <a:srgbClr val="39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400175"/>
            <a:ext cx="5353050" cy="2944415"/>
          </a:xfrm>
          <a:prstGeom prst="roundRect">
            <a:avLst>
              <a:gd name="adj" fmla="val 38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29350" y="1400175"/>
            <a:ext cx="5353050" cy="2944415"/>
          </a:xfrm>
          <a:prstGeom prst="roundRect">
            <a:avLst>
              <a:gd name="adj" fmla="val 38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5810250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1714500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675" y="1714500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175" y="1809750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4637" y="1809750"/>
            <a:ext cx="2190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11D48"/>
                </a:solidFill>
                <a:latin typeface="Inter"/>
              </a:rPr>
              <a:t>INDUSTRY BOTTLENECKS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The Twin Vulnerabilities of Modern Code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5791200"/>
            <a:ext cx="9131796" cy="400050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2E8F0"/>
                </a:solidFill>
                <a:latin typeface="Inter"/>
              </a:rPr>
              <a:t>Key Takeaway: Traditional code checkers are blind to structural equivalence and breach offline enterprise privacy.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46196" y="5829300"/>
            <a:ext cx="123140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DA4AF"/>
                </a:solidFill>
                <a:latin typeface="Inter"/>
              </a:rPr>
              <a:t>STATUS QUO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9225" y="1771650"/>
            <a:ext cx="383797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Vulnerability to Obfuscation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2286000"/>
            <a:ext cx="48196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Variable Renaming: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Naive string hashing fails when identifiers change.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2918221"/>
            <a:ext cx="48196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Control-Flow Flattening: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Reordered loops and branches blind token matchers.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3550443"/>
            <a:ext cx="48196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Formatting Tampering: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Cosmetic shifts bypass legacy regex string scanners.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8975" y="1771650"/>
            <a:ext cx="35754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Data Privacy &amp; IP Exposure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3675" y="2286000"/>
            <a:ext cx="48196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Cloud Leak Risks: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Uploading proprietary source to SaaS APIs violates compliance.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3675" y="2918221"/>
            <a:ext cx="48196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Trade Secret Exposure: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Third-party LLM training risks corporate intellectual property.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3675" y="3550443"/>
            <a:ext cx="48196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Air-Gap Demands: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Enterprise defense &amp; finance require 100% offline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857875"/>
            <a:ext cx="10972800" cy="542925"/>
          </a:xfrm>
          <a:prstGeom prst="roundRect">
            <a:avLst>
              <a:gd name="adj" fmla="val 1052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857875"/>
            <a:ext cx="38100" cy="542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676400"/>
            <a:ext cx="3124200" cy="2500312"/>
          </a:xfrm>
          <a:prstGeom prst="roundRect">
            <a:avLst>
              <a:gd name="adj" fmla="val 380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67300" y="1676400"/>
            <a:ext cx="3124200" cy="2500312"/>
          </a:xfrm>
          <a:prstGeom prst="roundRect">
            <a:avLst>
              <a:gd name="adj" fmla="val 380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20100" y="1676400"/>
            <a:ext cx="3162300" cy="2500312"/>
          </a:xfrm>
          <a:prstGeom prst="roundRect">
            <a:avLst>
              <a:gd name="adj" fmla="val 3809"/>
            </a:avLst>
          </a:prstGeom>
          <a:solidFill>
            <a:srgbClr val="F1F5F9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0100" y="3471862"/>
            <a:ext cx="2743200" cy="514350"/>
          </a:xfrm>
          <a:prstGeom prst="roundRect">
            <a:avLst>
              <a:gd name="adj" fmla="val 11111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257800" y="3471862"/>
            <a:ext cx="2743200" cy="514350"/>
          </a:xfrm>
          <a:prstGeom prst="roundRect">
            <a:avLst>
              <a:gd name="adj" fmla="val 11111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29650" y="3614737"/>
            <a:ext cx="2743200" cy="352425"/>
          </a:xfrm>
          <a:prstGeom prst="roundRect">
            <a:avLst>
              <a:gd name="adj" fmla="val 1621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009900" y="1866900"/>
            <a:ext cx="533400" cy="180975"/>
          </a:xfrm>
          <a:prstGeom prst="roundRect">
            <a:avLst>
              <a:gd name="adj" fmla="val 21052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67600" y="1866900"/>
            <a:ext cx="533400" cy="180975"/>
          </a:xfrm>
          <a:prstGeom prst="roundRect">
            <a:avLst>
              <a:gd name="adj" fmla="val 21052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44125" y="1895475"/>
            <a:ext cx="1228725" cy="180975"/>
          </a:xfrm>
          <a:prstGeom prst="roundRect">
            <a:avLst>
              <a:gd name="adj" fmla="val 2105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6048375"/>
            <a:ext cx="17145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950" y="2588418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825" y="2721768"/>
            <a:ext cx="17145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8200" y="6029325"/>
            <a:ext cx="106108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Inter"/>
              </a:rPr>
              <a:t> Key Takeaway: IsomorphAI evaluates topological invariants rather than surface-level text strings.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CORE TECHNICAL INNOVATION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953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Shifting from Text Comparison to Graph Isomorphism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1209675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Two programs can look completely different textually while remaining structurally identical.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50" y="3567112"/>
            <a:ext cx="26479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Inter"/>
              </a:rPr>
              <a:t>Standard function declaration &amp; accumulator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2400" y="3121818"/>
            <a:ext cx="11620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OBFUSCATED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3050" y="3567112"/>
            <a:ext cx="26479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Inter"/>
              </a:rPr>
              <a:t>Identifiers renamed; token string match: 35%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0" y="3709987"/>
            <a:ext cx="32385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Inter"/>
              </a:rPr>
              <a:t>Identical Syntax Tree Topography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" y="2247900"/>
            <a:ext cx="283845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F43F5E"/>
                </a:solidFill>
                <a:latin typeface="JetBrains Mono"/>
              </a:rPr>
              <a:t>def</a:t>
            </a:r>
            <a:r>
              <a:rPr sz="1125" b="0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sz="1125" b="0" i="0" u="none">
                <a:solidFill>
                  <a:srgbClr val="38BDF8"/>
                </a:solidFill>
                <a:latin typeface="JetBrains Mono"/>
              </a:rPr>
              <a:t>calculate_total</a:t>
            </a:r>
            <a:r>
              <a:rPr sz="1125" b="0" i="0" u="none">
                <a:solidFill>
                  <a:srgbClr val="E2E8F0"/>
                </a:solidFill>
                <a:latin typeface="JetBrains Mono"/>
              </a:rPr>
              <a:t>(prices): total = </a:t>
            </a:r>
            <a:r>
              <a:rPr sz="1125" b="0" i="0" u="none">
                <a:solidFill>
                  <a:srgbClr val="F59E0B"/>
                </a:solidFill>
                <a:latin typeface="JetBrains Mono"/>
              </a:rPr>
              <a:t>0</a:t>
            </a:r>
            <a:r>
              <a:rPr sz="1125" b="0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for</a:t>
            </a:r>
            <a:r>
              <a:rPr sz="1125" b="0" i="0" u="none">
                <a:solidFill>
                  <a:srgbClr val="E2E8F0"/>
                </a:solidFill>
                <a:latin typeface="JetBrains Mono"/>
              </a:rPr>
              <a:t> p 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in</a:t>
            </a:r>
            <a:r>
              <a:rPr sz="1125" b="0" i="0" u="none">
                <a:solidFill>
                  <a:srgbClr val="E2E8F0"/>
                </a:solidFill>
                <a:latin typeface="JetBrains Mono"/>
              </a:rPr>
              <a:t> prices: total += p 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return</a:t>
            </a:r>
            <a:r>
              <a:rPr sz="1125" b="0" i="0" u="none">
                <a:solidFill>
                  <a:srgbClr val="E2E8F0"/>
                </a:solidFill>
                <a:latin typeface="JetBrains Mono"/>
              </a:rPr>
              <a:t> total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2247900"/>
            <a:ext cx="283845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F43F5E"/>
                </a:solidFill>
                <a:latin typeface="JetBrains Mono"/>
              </a:rPr>
              <a:t>def</a:t>
            </a:r>
            <a:r>
              <a:rPr sz="1125" b="0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sz="1125" b="0" i="0" u="none">
                <a:solidFill>
                  <a:srgbClr val="38BDF8"/>
                </a:solidFill>
                <a:latin typeface="JetBrains Mono"/>
              </a:rPr>
              <a:t>process</a:t>
            </a:r>
            <a:r>
              <a:rPr sz="1125" b="0" i="0" u="none">
                <a:solidFill>
                  <a:srgbClr val="E2E8F0"/>
                </a:solidFill>
                <a:latin typeface="JetBrains Mono"/>
              </a:rPr>
              <a:t>(values): acc = </a:t>
            </a:r>
            <a:r>
              <a:rPr sz="1125" b="0" i="0" u="none">
                <a:solidFill>
                  <a:srgbClr val="F59E0B"/>
                </a:solidFill>
                <a:latin typeface="JetBrains Mono"/>
              </a:rPr>
              <a:t>0</a:t>
            </a:r>
            <a:r>
              <a:rPr sz="1125" b="0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for</a:t>
            </a:r>
            <a:r>
              <a:rPr sz="1125" b="0" i="0" u="none">
                <a:solidFill>
                  <a:srgbClr val="E2E8F0"/>
                </a:solidFill>
                <a:latin typeface="JetBrains Mono"/>
              </a:rPr>
              <a:t> v 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in</a:t>
            </a:r>
            <a:r>
              <a:rPr sz="1125" b="0" i="0" u="none">
                <a:solidFill>
                  <a:srgbClr val="E2E8F0"/>
                </a:solidFill>
                <a:latin typeface="JetBrains Mono"/>
              </a:rPr>
              <a:t> values: acc = acc + v 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return</a:t>
            </a:r>
            <a:r>
              <a:rPr sz="1125" b="0" i="0" u="none">
                <a:solidFill>
                  <a:srgbClr val="E2E8F0"/>
                </a:solidFill>
                <a:latin typeface="JetBrains Mono"/>
              </a:rPr>
              <a:t> acc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" y="1871662"/>
            <a:ext cx="1428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JetBrains Mono"/>
              </a:rPr>
              <a:t>Original Source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86100" y="1885950"/>
            <a:ext cx="4762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Inter"/>
              </a:rPr>
              <a:t>Python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1871662"/>
            <a:ext cx="2095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JetBrains Mono"/>
              </a:rPr>
              <a:t>Renamed &amp; Restructured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1885950"/>
            <a:ext cx="4762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Inter"/>
              </a:rPr>
              <a:t>Python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9650" y="1885950"/>
            <a:ext cx="1833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Space Grotesk"/>
              </a:rPr>
              <a:t>AST Graph Topology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20325" y="1914525"/>
            <a:ext cx="11715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100% ISOMORPHIC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9650" y="2200275"/>
            <a:ext cx="3429000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Tree Root: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FunctionDef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29650" y="2489745"/>
            <a:ext cx="3429000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Child 1: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Assign (Num: 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29650" y="2779216"/>
            <a:ext cx="3429000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Child 2: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ForLoop (Target, Iter, Body)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29650" y="3068687"/>
            <a:ext cx="3429000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Child 3: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ReturnStatement (Expr)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857875"/>
            <a:ext cx="10972800" cy="542925"/>
          </a:xfrm>
          <a:prstGeom prst="roundRect">
            <a:avLst>
              <a:gd name="adj" fmla="val 1052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857875"/>
            <a:ext cx="38100" cy="5429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400175"/>
            <a:ext cx="5372100" cy="1228576"/>
          </a:xfrm>
          <a:prstGeom prst="roundRect">
            <a:avLst>
              <a:gd name="adj" fmla="val 93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1400175"/>
            <a:ext cx="5372100" cy="1228576"/>
          </a:xfrm>
          <a:prstGeom prst="roundRect">
            <a:avLst>
              <a:gd name="adj" fmla="val 93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2857351"/>
            <a:ext cx="5372100" cy="1226641"/>
          </a:xfrm>
          <a:prstGeom prst="roundRect">
            <a:avLst>
              <a:gd name="adj" fmla="val 93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0300" y="2857351"/>
            <a:ext cx="5372100" cy="1226641"/>
          </a:xfrm>
          <a:prstGeom prst="roundRect">
            <a:avLst>
              <a:gd name="adj" fmla="val 93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743450" y="1709588"/>
            <a:ext cx="1000125" cy="609600"/>
          </a:xfrm>
          <a:prstGeom prst="roundRect">
            <a:avLst>
              <a:gd name="adj" fmla="val 15625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353675" y="1709588"/>
            <a:ext cx="990600" cy="609600"/>
          </a:xfrm>
          <a:prstGeom prst="roundRect">
            <a:avLst>
              <a:gd name="adj" fmla="val 15625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19650" y="3165871"/>
            <a:ext cx="923925" cy="609600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20350" y="3165871"/>
            <a:ext cx="923925" cy="609600"/>
          </a:xfrm>
          <a:prstGeom prst="roundRect">
            <a:avLst>
              <a:gd name="adj" fmla="val 15625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67075" y="1981200"/>
            <a:ext cx="354508" cy="1905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6048375"/>
            <a:ext cx="19050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1666875"/>
            <a:ext cx="219075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1667767"/>
            <a:ext cx="17145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3124051"/>
            <a:ext cx="219075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3124051"/>
            <a:ext cx="19050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8200" y="6029325"/>
            <a:ext cx="106108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15E59"/>
                </a:solidFill>
                <a:latin typeface="Inter"/>
              </a:rPr>
              <a:t> Key Takeaway: Combining structural, sequential, lexical, and neural signals yields maximum resilience against tampering.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Inter"/>
              </a:rPr>
              <a:t>MULTI-LAYERED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953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Multi-Signal Hybrid Architecture (No Single-Metric Blind Spots)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3950" y="1823888"/>
            <a:ext cx="7143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766E"/>
                </a:solidFill>
                <a:latin typeface="Space Grotesk"/>
              </a:rPr>
              <a:t>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4175" y="1823888"/>
            <a:ext cx="7048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369A1"/>
                </a:solidFill>
                <a:latin typeface="Space Grotesk"/>
              </a:rPr>
              <a:t>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0150" y="3280171"/>
            <a:ext cx="6381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B45309"/>
                </a:solidFill>
                <a:latin typeface="Space Grotesk"/>
              </a:rP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10850" y="3280171"/>
            <a:ext cx="6381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6B21A8"/>
                </a:solidFill>
                <a:latin typeface="Space Grotesk"/>
              </a:rPr>
              <a:t>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1962150"/>
            <a:ext cx="3714750" cy="4284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Zhang-Shasha tree edit distance () capturing syntax topology.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8425" y="1963042"/>
            <a:ext cx="37147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Language-normalized token sequence alignment using Longest Common Subsequence.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3419326"/>
            <a:ext cx="37147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Localized lexical token overlap for fragment reuse detection.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8425" y="3419326"/>
            <a:ext cx="37147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Local ONNX transformer mapping structural vectors into high-dimensional space.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2050" y="1638300"/>
            <a:ext cx="222527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AST Tree Similarity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4225" y="2000250"/>
            <a:ext cx="52595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monospace"/>
              </a:rPr>
              <a:t>zss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5125" y="1639192"/>
            <a:ext cx="198774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Canonical IR LCS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2050" y="3095476"/>
            <a:ext cx="171271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N-Gram TF-IDF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4175" y="3095476"/>
            <a:ext cx="232529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Neural Embeddings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857875"/>
            <a:ext cx="10972800" cy="542925"/>
          </a:xfrm>
          <a:prstGeom prst="roundRect">
            <a:avLst>
              <a:gd name="adj" fmla="val 10526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857875"/>
            <a:ext cx="38100" cy="54292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400175"/>
            <a:ext cx="6183659" cy="2771775"/>
          </a:xfrm>
          <a:prstGeom prst="roundRect">
            <a:avLst>
              <a:gd name="adj" fmla="val 41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362450"/>
            <a:ext cx="6183659" cy="790575"/>
          </a:xfrm>
          <a:prstGeom prst="roundRect">
            <a:avLst>
              <a:gd name="adj" fmla="val 12048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1981200"/>
            <a:ext cx="5707409" cy="647700"/>
          </a:xfrm>
          <a:prstGeom prst="roundRect">
            <a:avLst>
              <a:gd name="adj" fmla="val 11764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725" y="3019425"/>
            <a:ext cx="5707409" cy="428625"/>
          </a:xfrm>
          <a:prstGeom prst="roundRect">
            <a:avLst>
              <a:gd name="adj" fmla="val 17777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7725" y="3562350"/>
            <a:ext cx="5707409" cy="371475"/>
          </a:xfrm>
          <a:prstGeom prst="roundRect">
            <a:avLst>
              <a:gd name="adj" fmla="val 20512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678834" y="2195512"/>
            <a:ext cx="723900" cy="219075"/>
          </a:xfrm>
          <a:prstGeom prst="roundRect">
            <a:avLst>
              <a:gd name="adj" fmla="val 17391"/>
            </a:avLst>
          </a:prstGeom>
          <a:solidFill>
            <a:srgbClr val="726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159" y="1562100"/>
            <a:ext cx="4446240" cy="3429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6048375"/>
            <a:ext cx="1524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8084" y="1724025"/>
            <a:ext cx="4122390" cy="31051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605337"/>
            <a:ext cx="3810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655" y="2762250"/>
            <a:ext cx="104775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125" y="2200275"/>
            <a:ext cx="209550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8200" y="6029325"/>
            <a:ext cx="106108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12E81"/>
                </a:solidFill>
                <a:latin typeface="Inter"/>
              </a:rPr>
              <a:t> Key Takeaway: Lightning-fast local inference combined with absolute data privacy on edge hardware.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Inter"/>
              </a:rPr>
              <a:t>HARDWARE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953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Optimized for Windows on Snapdragon &amp; Qualcomm AI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1638300"/>
            <a:ext cx="74909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F46E5"/>
                </a:solidFill>
                <a:latin typeface="Inter"/>
              </a:rPr>
              <a:t>EXECUTION PATH HIERARCHY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298" y="2743200"/>
            <a:ext cx="7134262" cy="161925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0F172A"/>
                </a:solidFill>
                <a:latin typeface="Inter"/>
              </a:rPr>
              <a:t>Seamless 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3025" y="4562475"/>
            <a:ext cx="632221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4532D"/>
                </a:solidFill>
                <a:latin typeface="Inter"/>
              </a:rPr>
              <a:t>100% Zero-Trust Air-Gapped Attestation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3025" y="4752975"/>
            <a:ext cx="63222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166534"/>
                </a:solidFill>
                <a:latin typeface="Inter"/>
              </a:rPr>
              <a:t>Zero external network egress. Raw source code never leaves device RAM.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4084" y="2233612"/>
            <a:ext cx="628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PRIMARY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9650" y="3143250"/>
            <a:ext cx="2476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730A3"/>
                </a:solidFill>
                <a:latin typeface="Inter"/>
              </a:rPr>
              <a:t>DirectML Execution Provider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59784" y="3162300"/>
            <a:ext cx="10191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F46E5"/>
                </a:solidFill>
                <a:latin typeface="Inter"/>
              </a:rPr>
              <a:t>GPU Fallback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9650" y="3667125"/>
            <a:ext cx="173831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Native CPU Execution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83559" y="3676650"/>
            <a:ext cx="12954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Host CPU Fallback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3975" y="2133600"/>
            <a:ext cx="39409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Hexagon NPU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3975" y="2324100"/>
            <a:ext cx="39409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FFFFF"/>
                </a:solidFill>
                <a:latin typeface="Inter"/>
              </a:rPr>
              <a:t>QNNExecutionProvider (Primary Tensor Acceleration)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857875"/>
            <a:ext cx="10972800" cy="542925"/>
          </a:xfrm>
          <a:prstGeom prst="roundRect">
            <a:avLst>
              <a:gd name="adj" fmla="val 1052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857875"/>
            <a:ext cx="38100" cy="5429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400175"/>
            <a:ext cx="4916685" cy="2950666"/>
          </a:xfrm>
          <a:prstGeom prst="roundRect">
            <a:avLst>
              <a:gd name="adj" fmla="val 38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92985" y="1400175"/>
            <a:ext cx="5789414" cy="2950666"/>
          </a:xfrm>
          <a:prstGeom prst="roundRect">
            <a:avLst>
              <a:gd name="adj" fmla="val 38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5825" y="2750641"/>
            <a:ext cx="4364235" cy="942975"/>
          </a:xfrm>
          <a:prstGeom prst="roundRect">
            <a:avLst>
              <a:gd name="adj" fmla="val 808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69210" y="2760166"/>
            <a:ext cx="5236964" cy="1314450"/>
          </a:xfrm>
          <a:prstGeom prst="roundRect">
            <a:avLst>
              <a:gd name="adj" fmla="val 579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6985" y="2171700"/>
            <a:ext cx="480119" cy="219075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87960" y="3341191"/>
            <a:ext cx="1409700" cy="200025"/>
          </a:xfrm>
          <a:prstGeom prst="roundRect">
            <a:avLst>
              <a:gd name="adj" fmla="val 19047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6048375"/>
            <a:ext cx="1905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1676400"/>
            <a:ext cx="3429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9210" y="1676400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1762125"/>
            <a:ext cx="17145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5410" y="1762125"/>
            <a:ext cx="190500" cy="171450"/>
          </a:xfrm>
          <a:prstGeom prst="rect">
            <a:avLst/>
          </a:prstGeom>
        </p:spPr>
      </p:pic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21610" y="3131641"/>
          <a:ext cx="4927400" cy="852170"/>
        </p:xfrm>
        <a:graphic>
          <a:graphicData uri="http://schemas.openxmlformats.org/drawingml/2006/table">
            <a:tbl>
              <a:tblPr/>
              <a:tblGrid>
                <a:gridCol w="1242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84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64748B"/>
                          </a:solidFill>
                          <a:latin typeface="JetBrains Mono"/>
                        </a:rPr>
                        <a:t>f1.py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64748B"/>
                          </a:solidFill>
                          <a:latin typeface="JetBrains Mono"/>
                        </a:rPr>
                        <a:t>f2.py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64748B"/>
                          </a:solidFill>
                          <a:latin typeface="JetBrains Mono"/>
                        </a:rPr>
                        <a:t>f3.py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64748B"/>
                          </a:solidFill>
                          <a:latin typeface="JetBrains Mono"/>
                        </a:rPr>
                        <a:t>f1.py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94A3B8"/>
                          </a:solidFill>
                          <a:latin typeface="JetBrains Mono"/>
                        </a:rPr>
                        <a:t>1.00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FDA4AF"/>
                          </a:solidFill>
                          <a:latin typeface="JetBrains Mono"/>
                        </a:rPr>
                        <a:t>0.96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A7F3D0"/>
                          </a:solidFill>
                          <a:latin typeface="JetBrains Mono"/>
                        </a:rPr>
                        <a:t>0.12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64748B"/>
                          </a:solidFill>
                          <a:latin typeface="JetBrains Mono"/>
                        </a:rPr>
                        <a:t>f2.py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FDA4AF"/>
                          </a:solidFill>
                          <a:latin typeface="JetBrains Mono"/>
                        </a:rPr>
                        <a:t>0.96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94A3B8"/>
                          </a:solidFill>
                          <a:latin typeface="JetBrains Mono"/>
                        </a:rPr>
                        <a:t>1.00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A7F3D0"/>
                          </a:solidFill>
                          <a:latin typeface="JetBrains Mono"/>
                        </a:rPr>
                        <a:t>0.18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38200" y="6029325"/>
            <a:ext cx="106108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40AF"/>
                </a:solidFill>
                <a:latin typeface="Inter"/>
              </a:rPr>
              <a:t> Key Takeaway: Scales effortlessly from single snippet verification to repository-wide structural auditing.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PRODUCTION TOOLING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953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Production-Grade Developer &amp; Auditor Tooling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2171700"/>
            <a:ext cx="445948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Instant side-by-side inspection with granular layer sub-scores and threat-level badges.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9210" y="2171700"/>
            <a:ext cx="5332214" cy="436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Upload multi-file codebases for pairwise $N \times N$ similarity matrix heatmap generation.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3025" y="1724025"/>
            <a:ext cx="415051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Workflow 1 — Single-Pair Forensics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6410" y="1724025"/>
            <a:ext cx="421302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Workflow 2 — Repository Inspector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4135" y="2190750"/>
            <a:ext cx="65156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monospace"/>
              </a:rPr>
              <a:t>.zip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1610" y="2912566"/>
            <a:ext cx="597038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Inter"/>
              </a:rPr>
              <a:t>N X N HEATMAP MATRIX SAMPLE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8225" y="2903041"/>
            <a:ext cx="1047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JetBrains Mono"/>
              </a:rPr>
              <a:t>AST Score: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4660" y="2903041"/>
            <a:ext cx="1428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0.94 (Critical)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8225" y="3122116"/>
            <a:ext cx="1619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JetBrains Mono"/>
              </a:rPr>
              <a:t>IR LCS Alignment: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9460" y="3122116"/>
            <a:ext cx="11239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0.88 (High)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8225" y="3341191"/>
            <a:ext cx="11620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JetBrains Mono"/>
              </a:rPr>
              <a:t>Threat Status: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5110" y="3360241"/>
            <a:ext cx="13906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11D48"/>
                </a:solidFill>
                <a:latin typeface="JetBrains Mono"/>
              </a:rPr>
              <a:t>DUPLICATION ALERT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324475"/>
            <a:ext cx="10972800" cy="1000125"/>
          </a:xfrm>
          <a:prstGeom prst="roundRect">
            <a:avLst>
              <a:gd name="adj" fmla="val 11428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886950" y="533400"/>
            <a:ext cx="1695450" cy="24765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638300"/>
            <a:ext cx="3505200" cy="1857375"/>
          </a:xfrm>
          <a:prstGeom prst="roundRect">
            <a:avLst>
              <a:gd name="adj" fmla="val 61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43400" y="1638300"/>
            <a:ext cx="3505200" cy="1857375"/>
          </a:xfrm>
          <a:prstGeom prst="roundRect">
            <a:avLst>
              <a:gd name="adj" fmla="val 61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7200" y="1638300"/>
            <a:ext cx="3505200" cy="1857375"/>
          </a:xfrm>
          <a:prstGeom prst="roundRect">
            <a:avLst>
              <a:gd name="adj" fmla="val 61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876425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1876425"/>
            <a:ext cx="3810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1876425"/>
            <a:ext cx="3048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8953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Reproducible Compliance &amp; Real-Time HUD 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84546" y="5562600"/>
            <a:ext cx="12561093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47857"/>
                </a:solidFill>
                <a:latin typeface="Space Grotesk"/>
              </a:rPr>
              <a:t>Understand the structure. Compare the program. Preserve the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184546" y="5895975"/>
            <a:ext cx="1256109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66534"/>
                </a:solidFill>
                <a:latin typeface="Inter"/>
              </a:rPr>
              <a:t>Complete transparency, verifiable hardware attestation, and enterprise-ready compliance reporting on Qualcomm Snapdragon.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76262"/>
            <a:ext cx="2381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Inter"/>
              </a:rPr>
              <a:t>ENTERPRISE 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0" y="571500"/>
            <a:ext cx="15621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47857"/>
                </a:solidFill>
                <a:latin typeface="Inter"/>
              </a:rPr>
              <a:t>PRODUCIBLE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2333625"/>
            <a:ext cx="397549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Executive PDF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2657475"/>
            <a:ext cx="31242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One-click executive forensic audit export with formal similarity attestations and threat breakdowns.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525" y="2333625"/>
            <a:ext cx="397549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CI/CD JSON Audit Logs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525" y="2657475"/>
            <a:ext cx="31242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Machine-readable JSON artifacts for automated pipeline gates, GitHub Actions, and devsecops compliance.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325" y="2333625"/>
            <a:ext cx="387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Live System HUD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5325" y="2657475"/>
            <a:ext cx="31242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Real-time execution provider monitoring, NPU tensor utilization, RAM deltas, and latency counters (&lt;12ms).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664</Words>
  <Application>Microsoft Office PowerPoint</Application>
  <PresentationFormat>Widescreen</PresentationFormat>
  <Paragraphs>108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Space Grotesk</vt:lpstr>
      <vt:lpstr>Inter</vt:lpstr>
      <vt:lpstr>monospace</vt:lpstr>
      <vt:lpstr>JetBrains Mono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Ashish Patel</cp:lastModifiedBy>
  <cp:revision>2</cp:revision>
  <dcterms:created xsi:type="dcterms:W3CDTF">2013-01-27T09:14:16Z</dcterms:created>
  <dcterms:modified xsi:type="dcterms:W3CDTF">2026-09-29T22:28:07Z</dcterms:modified>
  <cp:category/>
</cp:coreProperties>
</file>